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Barlow Condensed Heavy Italics" charset="1" panose="00000A06000000000000"/>
      <p:regular r:id="rId28"/>
    </p:embeddedFont>
    <p:embeddedFont>
      <p:font typeface="Barlow Condensed Bold Italics" charset="1" panose="00000806000000000000"/>
      <p:regular r:id="rId29"/>
    </p:embeddedFont>
    <p:embeddedFont>
      <p:font typeface="Canva Sans Bold Italics" charset="1" panose="020B0803030501040103"/>
      <p:regular r:id="rId30"/>
    </p:embeddedFont>
    <p:embeddedFont>
      <p:font typeface="Canva Sans Italics" charset="1" panose="020B0503030501040103"/>
      <p:regular r:id="rId31"/>
    </p:embeddedFont>
    <p:embeddedFont>
      <p:font typeface="Canva Sans Bold" charset="1" panose="020B0803030501040103"/>
      <p:regular r:id="rId32"/>
    </p:embeddedFont>
    <p:embeddedFont>
      <p:font typeface="Canva Sans" charset="1" panose="020B0503030501040103"/>
      <p:regular r:id="rId33"/>
    </p:embeddedFont>
    <p:embeddedFont>
      <p:font typeface="Sniglet" charset="1" panose="04070505030100020000"/>
      <p:regular r:id="rId34"/>
    </p:embeddedFont>
    <p:embeddedFont>
      <p:font typeface="Chewy" charset="1" panose="02000000000000000000"/>
      <p:regular r:id="rId35"/>
    </p:embeddedFont>
    <p:embeddedFont>
      <p:font typeface="Dynapuff Bold" charset="1" panose="00000000000000000000"/>
      <p:regular r:id="rId36"/>
    </p:embeddedFont>
    <p:embeddedFont>
      <p:font typeface="Dynapuff" charset="1" panose="00000000000000000000"/>
      <p:regular r:id="rId37"/>
    </p:embeddedFont>
    <p:embeddedFont>
      <p:font typeface="HK Modular" charset="1" panose="000008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jpeg" Type="http://schemas.openxmlformats.org/officeDocument/2006/relationships/image"/><Relationship Id="rId4" Target="../media/image34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93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6" t="0" r="-596" b="-168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9336" y="186774"/>
            <a:ext cx="1406457" cy="1352819"/>
            <a:chOff x="0" y="0"/>
            <a:chExt cx="1875275" cy="180375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875275" cy="1803759"/>
              <a:chOff x="0" y="0"/>
              <a:chExt cx="845027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4502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5027">
                    <a:moveTo>
                      <a:pt x="422513" y="0"/>
                    </a:moveTo>
                    <a:cubicBezTo>
                      <a:pt x="189166" y="0"/>
                      <a:pt x="0" y="181951"/>
                      <a:pt x="0" y="406400"/>
                    </a:cubicBezTo>
                    <a:cubicBezTo>
                      <a:pt x="0" y="630849"/>
                      <a:pt x="189166" y="812800"/>
                      <a:pt x="422513" y="812800"/>
                    </a:cubicBezTo>
                    <a:cubicBezTo>
                      <a:pt x="655861" y="812800"/>
                      <a:pt x="845027" y="630849"/>
                      <a:pt x="845027" y="406400"/>
                    </a:cubicBezTo>
                    <a:cubicBezTo>
                      <a:pt x="845027" y="181951"/>
                      <a:pt x="655861" y="0"/>
                      <a:pt x="422513" y="0"/>
                    </a:cubicBezTo>
                    <a:close/>
                  </a:path>
                </a:pathLst>
              </a:custGeom>
              <a:solidFill>
                <a:srgbClr val="B68E6A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9221" y="38100"/>
                <a:ext cx="686584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324121" y="279009"/>
              <a:ext cx="1227034" cy="1180239"/>
            </a:xfrm>
            <a:custGeom>
              <a:avLst/>
              <a:gdLst/>
              <a:ahLst/>
              <a:cxnLst/>
              <a:rect r="r" b="b" t="t" l="l"/>
              <a:pathLst>
                <a:path h="1180239" w="1227034">
                  <a:moveTo>
                    <a:pt x="0" y="0"/>
                  </a:moveTo>
                  <a:lnTo>
                    <a:pt x="1227034" y="0"/>
                  </a:lnTo>
                  <a:lnTo>
                    <a:pt x="1227034" y="1180240"/>
                  </a:lnTo>
                  <a:lnTo>
                    <a:pt x="0" y="1180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82" r="0" b="-198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30872" y="186774"/>
            <a:ext cx="1406457" cy="1352819"/>
            <a:chOff x="0" y="0"/>
            <a:chExt cx="1875275" cy="180375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5275" cy="1803759"/>
              <a:chOff x="0" y="0"/>
              <a:chExt cx="845027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4502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5027">
                    <a:moveTo>
                      <a:pt x="422513" y="0"/>
                    </a:moveTo>
                    <a:cubicBezTo>
                      <a:pt x="189166" y="0"/>
                      <a:pt x="0" y="181951"/>
                      <a:pt x="0" y="406400"/>
                    </a:cubicBezTo>
                    <a:cubicBezTo>
                      <a:pt x="0" y="630849"/>
                      <a:pt x="189166" y="812800"/>
                      <a:pt x="422513" y="812800"/>
                    </a:cubicBezTo>
                    <a:cubicBezTo>
                      <a:pt x="655861" y="812800"/>
                      <a:pt x="845027" y="630849"/>
                      <a:pt x="845027" y="406400"/>
                    </a:cubicBezTo>
                    <a:cubicBezTo>
                      <a:pt x="845027" y="181951"/>
                      <a:pt x="655861" y="0"/>
                      <a:pt x="422513" y="0"/>
                    </a:cubicBezTo>
                    <a:close/>
                  </a:path>
                </a:pathLst>
              </a:custGeom>
              <a:solidFill>
                <a:srgbClr val="B68E6A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9221" y="38100"/>
                <a:ext cx="686584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86248" y="371518"/>
              <a:ext cx="1102779" cy="1060723"/>
            </a:xfrm>
            <a:custGeom>
              <a:avLst/>
              <a:gdLst/>
              <a:ahLst/>
              <a:cxnLst/>
              <a:rect r="r" b="b" t="t" l="l"/>
              <a:pathLst>
                <a:path h="1060723" w="1102779">
                  <a:moveTo>
                    <a:pt x="0" y="0"/>
                  </a:moveTo>
                  <a:lnTo>
                    <a:pt x="1102779" y="0"/>
                  </a:lnTo>
                  <a:lnTo>
                    <a:pt x="1102779" y="1060723"/>
                  </a:lnTo>
                  <a:lnTo>
                    <a:pt x="0" y="106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82" r="0" b="-198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804781" y="186774"/>
            <a:ext cx="1406457" cy="1352819"/>
            <a:chOff x="0" y="0"/>
            <a:chExt cx="1875275" cy="180375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875275" cy="1803759"/>
              <a:chOff x="0" y="0"/>
              <a:chExt cx="845027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4502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5027">
                    <a:moveTo>
                      <a:pt x="422513" y="0"/>
                    </a:moveTo>
                    <a:cubicBezTo>
                      <a:pt x="189166" y="0"/>
                      <a:pt x="0" y="181951"/>
                      <a:pt x="0" y="406400"/>
                    </a:cubicBezTo>
                    <a:cubicBezTo>
                      <a:pt x="0" y="630849"/>
                      <a:pt x="189166" y="812800"/>
                      <a:pt x="422513" y="812800"/>
                    </a:cubicBezTo>
                    <a:cubicBezTo>
                      <a:pt x="655861" y="812800"/>
                      <a:pt x="845027" y="630849"/>
                      <a:pt x="845027" y="406400"/>
                    </a:cubicBezTo>
                    <a:cubicBezTo>
                      <a:pt x="845027" y="181951"/>
                      <a:pt x="655861" y="0"/>
                      <a:pt x="422513" y="0"/>
                    </a:cubicBezTo>
                    <a:close/>
                  </a:path>
                </a:pathLst>
              </a:custGeom>
              <a:solidFill>
                <a:srgbClr val="B68E6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9221" y="38100"/>
                <a:ext cx="686584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381469" y="334171"/>
              <a:ext cx="1112337" cy="1069916"/>
            </a:xfrm>
            <a:custGeom>
              <a:avLst/>
              <a:gdLst/>
              <a:ahLst/>
              <a:cxnLst/>
              <a:rect r="r" b="b" t="t" l="l"/>
              <a:pathLst>
                <a:path h="1069916" w="1112337">
                  <a:moveTo>
                    <a:pt x="0" y="0"/>
                  </a:moveTo>
                  <a:lnTo>
                    <a:pt x="1112337" y="0"/>
                  </a:lnTo>
                  <a:lnTo>
                    <a:pt x="1112337" y="1069916"/>
                  </a:lnTo>
                  <a:lnTo>
                    <a:pt x="0" y="1069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982" r="0" b="-198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42137" y="186774"/>
            <a:ext cx="1406457" cy="1352819"/>
            <a:chOff x="0" y="0"/>
            <a:chExt cx="1875275" cy="180375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875275" cy="1803759"/>
              <a:chOff x="0" y="0"/>
              <a:chExt cx="845027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502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5027">
                    <a:moveTo>
                      <a:pt x="422513" y="0"/>
                    </a:moveTo>
                    <a:cubicBezTo>
                      <a:pt x="189166" y="0"/>
                      <a:pt x="0" y="181951"/>
                      <a:pt x="0" y="406400"/>
                    </a:cubicBezTo>
                    <a:cubicBezTo>
                      <a:pt x="0" y="630849"/>
                      <a:pt x="189166" y="812800"/>
                      <a:pt x="422513" y="812800"/>
                    </a:cubicBezTo>
                    <a:cubicBezTo>
                      <a:pt x="655861" y="812800"/>
                      <a:pt x="845027" y="630849"/>
                      <a:pt x="845027" y="406400"/>
                    </a:cubicBezTo>
                    <a:cubicBezTo>
                      <a:pt x="845027" y="181951"/>
                      <a:pt x="655861" y="0"/>
                      <a:pt x="422513" y="0"/>
                    </a:cubicBezTo>
                    <a:close/>
                  </a:path>
                </a:pathLst>
              </a:custGeom>
              <a:solidFill>
                <a:srgbClr val="B68E6A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9221" y="38100"/>
                <a:ext cx="686584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207759" y="199836"/>
              <a:ext cx="1459757" cy="1404087"/>
            </a:xfrm>
            <a:custGeom>
              <a:avLst/>
              <a:gdLst/>
              <a:ahLst/>
              <a:cxnLst/>
              <a:rect r="r" b="b" t="t" l="l"/>
              <a:pathLst>
                <a:path h="1404087" w="1459757">
                  <a:moveTo>
                    <a:pt x="0" y="0"/>
                  </a:moveTo>
                  <a:lnTo>
                    <a:pt x="1459757" y="0"/>
                  </a:lnTo>
                  <a:lnTo>
                    <a:pt x="1459757" y="1404087"/>
                  </a:lnTo>
                  <a:lnTo>
                    <a:pt x="0" y="1404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982" r="0" b="-198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0899" y="7602918"/>
            <a:ext cx="16386202" cy="200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b="true" sz="9310" i="true">
                <a:solidFill>
                  <a:srgbClr val="EDAE22"/>
                </a:solidFill>
                <a:latin typeface="Barlow Condensed Heavy Italics"/>
                <a:ea typeface="Barlow Condensed Heavy Italics"/>
                <a:cs typeface="Barlow Condensed Heavy Italics"/>
                <a:sym typeface="Barlow Condensed Heavy Italics"/>
              </a:rPr>
              <a:t>MULTISENSORY LEARNING TOOL FOR</a:t>
            </a:r>
            <a:r>
              <a:rPr lang="en-US" b="true" sz="9310" i="true">
                <a:solidFill>
                  <a:srgbClr val="A9B4EE"/>
                </a:solidFill>
                <a:latin typeface="Barlow Condensed Heavy Italics"/>
                <a:ea typeface="Barlow Condensed Heavy Italics"/>
                <a:cs typeface="Barlow Condensed Heavy Italics"/>
                <a:sym typeface="Barlow Condensed Heavy Italics"/>
              </a:rPr>
              <a:t> </a:t>
            </a:r>
          </a:p>
          <a:p>
            <a:pPr algn="ctr">
              <a:lnSpc>
                <a:spcPts val="7448"/>
              </a:lnSpc>
            </a:pPr>
            <a:r>
              <a:rPr lang="en-US" b="true" sz="9310" i="true">
                <a:solidFill>
                  <a:srgbClr val="FFFFFF"/>
                </a:solidFill>
                <a:latin typeface="Barlow Condensed Heavy Italics"/>
                <a:ea typeface="Barlow Condensed Heavy Italics"/>
                <a:cs typeface="Barlow Condensed Heavy Italics"/>
                <a:sym typeface="Barlow Condensed Heavy Italics"/>
              </a:rPr>
              <a:t>CHIDLREN WTIH DOWN SYNDROME</a:t>
            </a:r>
          </a:p>
        </p:txBody>
      </p:sp>
      <p:sp>
        <p:nvSpPr>
          <p:cNvPr name="AutoShape 24" id="24"/>
          <p:cNvSpPr/>
          <p:nvPr/>
        </p:nvSpPr>
        <p:spPr>
          <a:xfrm>
            <a:off x="2648594" y="863184"/>
            <a:ext cx="29007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6955792" y="863184"/>
            <a:ext cx="26750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1037329" y="863184"/>
            <a:ext cx="27674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835783" y="1491968"/>
            <a:ext cx="2521629" cy="42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4"/>
              </a:lnSpc>
              <a:spcBef>
                <a:spcPct val="0"/>
              </a:spcBef>
            </a:pPr>
            <a:r>
              <a:rPr lang="en-US" b="true" sz="2531" i="true">
                <a:solidFill>
                  <a:srgbClr val="000000"/>
                </a:solidFill>
                <a:latin typeface="Barlow Condensed Heavy Italics"/>
                <a:ea typeface="Barlow Condensed Heavy Italics"/>
                <a:cs typeface="Barlow Condensed Heavy Italics"/>
                <a:sym typeface="Barlow Condensed Heavy Italics"/>
              </a:rPr>
              <a:t>GROSS MOTOR SKILLS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76662" y="1491968"/>
            <a:ext cx="2551803" cy="43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b="true" sz="2529" i="true">
                <a:solidFill>
                  <a:srgbClr val="000000"/>
                </a:solidFill>
                <a:latin typeface="Barlow Condensed Heavy Italics"/>
                <a:ea typeface="Barlow Condensed Heavy Italics"/>
                <a:cs typeface="Barlow Condensed Heavy Italics"/>
                <a:sym typeface="Barlow Condensed Heavy Italics"/>
              </a:rPr>
              <a:t>SPEAKING SKILLS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58199" y="1491968"/>
            <a:ext cx="3024514" cy="43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b="true" sz="2529" i="true">
                <a:solidFill>
                  <a:srgbClr val="000000"/>
                </a:solidFill>
                <a:latin typeface="Barlow Condensed Heavy Italics"/>
                <a:ea typeface="Barlow Condensed Heavy Italics"/>
                <a:cs typeface="Barlow Condensed Heavy Italics"/>
                <a:sym typeface="Barlow Condensed Heavy Italics"/>
              </a:rPr>
              <a:t>BASIC MATHEMATICS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32108" y="1491968"/>
            <a:ext cx="2551803" cy="431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b="true" sz="2529" i="true">
                <a:solidFill>
                  <a:srgbClr val="000000"/>
                </a:solidFill>
                <a:latin typeface="Barlow Condensed Heavy Italics"/>
                <a:ea typeface="Barlow Condensed Heavy Italics"/>
                <a:cs typeface="Barlow Condensed Heavy Italics"/>
                <a:sym typeface="Barlow Condensed Heavy Italics"/>
              </a:rPr>
              <a:t>WRITING SKILLS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8" t="0" r="-1668" b="-2239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1093" y="1028700"/>
            <a:ext cx="17285815" cy="2870422"/>
            <a:chOff x="0" y="0"/>
            <a:chExt cx="23047753" cy="382722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23409" y="304800"/>
              <a:ext cx="7084856" cy="1327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6453"/>
                </a:lnSpc>
              </a:pPr>
              <a:r>
                <a:rPr lang="en-US" b="true" sz="8067" i="true">
                  <a:solidFill>
                    <a:srgbClr val="EDAE22"/>
                  </a:solidFill>
                  <a:latin typeface="Barlow Condensed Bold Italics"/>
                  <a:ea typeface="Barlow Condensed Bold Italics"/>
                  <a:cs typeface="Barlow Condensed Bold Italics"/>
                  <a:sym typeface="Barlow Condensed Bold Italics"/>
                </a:rPr>
                <a:t>INTRODUCTION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35513"/>
              <a:ext cx="23047753" cy="1791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009"/>
                </a:lnSpc>
              </a:pPr>
            </a:p>
            <a:p>
              <a:pPr algn="just">
                <a:lnSpc>
                  <a:spcPts val="521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48617" y="3097113"/>
            <a:ext cx="13139383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PURPOSE: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sz="3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IMPROVE EDUCATIONAL, S</a:t>
            </a:r>
            <a:r>
              <a:rPr lang="en-US" sz="3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OCIAL, AND HUMAN SKILLS FOR CHILDREN WITH DOWN SYNDROME (AGES 5-10) IN SRI LANKA.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PROBLEM: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sz="3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LIMITED ACCESS TO AFFORDABLE, EFFECTIVE EDUCATION TOOLS; CHALLENGES IN WRITING, SPEECH, MATH, AND MOTOR SKILLS.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SOLUTION: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sz="3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AFFORDABLE, E-LEARNING PLATFORM FOR HOME USE.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KEY FEATURES: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FOCUSES ON 4 AREAS: WRITING, SPEECH, MATH, GROSS MOTOR SKILLS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USER-FRIENDLY, LOW-COST, AND MODERN.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B57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6138" y="636656"/>
            <a:ext cx="13179054" cy="173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89"/>
              </a:lnSpc>
            </a:pPr>
            <a:r>
              <a:rPr lang="en-US" b="true" sz="8111" i="true">
                <a:solidFill>
                  <a:srgbClr val="EDAE22"/>
                </a:solidFill>
                <a:latin typeface="Barlow Condensed Bold Italics"/>
                <a:ea typeface="Barlow Condensed Bold Italics"/>
                <a:cs typeface="Barlow Condensed Bold Italics"/>
                <a:sym typeface="Barlow Condensed Bold Italics"/>
              </a:rPr>
              <a:t>BACKGROUND &amp; RESEARCH PROBLEM</a:t>
            </a:r>
          </a:p>
          <a:p>
            <a:pPr algn="r">
              <a:lnSpc>
                <a:spcPts val="648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3843" y="1403446"/>
            <a:ext cx="17380313" cy="939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7" indent="-410214" lvl="1">
              <a:lnSpc>
                <a:spcPts val="6042"/>
              </a:lnSpc>
              <a:buFont typeface="Arial"/>
              <a:buChar char="•"/>
            </a:pPr>
            <a:r>
              <a:rPr lang="en-US" b="true" sz="3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Background: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Sri Lank</a:t>
            </a: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a, children with Down syndrome lack proper education.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Many face delays in reading, writing, math, and movement skills.</a:t>
            </a:r>
          </a:p>
          <a:p>
            <a:pPr algn="just" marL="820427" indent="-410214" lvl="1">
              <a:lnSpc>
                <a:spcPts val="6042"/>
              </a:lnSpc>
              <a:buFont typeface="Arial"/>
              <a:buChar char="•"/>
            </a:pPr>
            <a:r>
              <a:rPr lang="en-US" b="true" sz="3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Problem: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Schools lack special classes, trained teachers, and enough resources.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Parents struggle to teach their children at home without proper guidance.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Most learning tools are expensive or complex.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Current teaching methods are not effective enough.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Expensive medical support.</a:t>
            </a:r>
          </a:p>
          <a:p>
            <a:pPr algn="just" marL="820427" indent="-410214" lvl="1">
              <a:lnSpc>
                <a:spcPts val="6042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Gap:</a:t>
            </a:r>
          </a:p>
          <a:p>
            <a:pPr algn="just" marL="1554496" indent="-518165" lvl="2">
              <a:lnSpc>
                <a:spcPts val="5724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No widely available, parent interactive, low-cost solutions.</a:t>
            </a:r>
          </a:p>
          <a:p>
            <a:pPr algn="just">
              <a:lnSpc>
                <a:spcPts val="492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57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6138" y="5555346"/>
            <a:ext cx="16823402" cy="2748681"/>
          </a:xfrm>
          <a:custGeom>
            <a:avLst/>
            <a:gdLst/>
            <a:ahLst/>
            <a:cxnLst/>
            <a:rect r="r" b="b" t="t" l="l"/>
            <a:pathLst>
              <a:path h="2748681" w="16823402">
                <a:moveTo>
                  <a:pt x="0" y="0"/>
                </a:moveTo>
                <a:lnTo>
                  <a:pt x="16823402" y="0"/>
                </a:lnTo>
                <a:lnTo>
                  <a:pt x="16823402" y="2748681"/>
                </a:lnTo>
                <a:lnTo>
                  <a:pt x="0" y="274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43" t="0" r="-387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6138" y="850687"/>
            <a:ext cx="13179054" cy="173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9"/>
              </a:lnSpc>
            </a:pPr>
            <a:r>
              <a:rPr lang="en-US" b="true" sz="8111" i="true">
                <a:solidFill>
                  <a:srgbClr val="EDAE22"/>
                </a:solidFill>
                <a:latin typeface="Barlow Condensed Bold Italics"/>
                <a:ea typeface="Barlow Condensed Bold Italics"/>
                <a:cs typeface="Barlow Condensed Bold Italics"/>
                <a:sym typeface="Barlow Condensed Bold Italics"/>
              </a:rPr>
              <a:t>RESEARCH GAP</a:t>
            </a:r>
          </a:p>
          <a:p>
            <a:pPr algn="r">
              <a:lnSpc>
                <a:spcPts val="648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53843" y="1897627"/>
            <a:ext cx="17380313" cy="310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43" indent="-291471" lvl="1">
              <a:lnSpc>
                <a:spcPts val="4293"/>
              </a:lnSpc>
              <a:buFont typeface="Arial"/>
              <a:buChar char="•"/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Identified:</a:t>
            </a:r>
          </a:p>
          <a:p>
            <a:pPr algn="just" marL="1165886" indent="-388629" lvl="2">
              <a:lnSpc>
                <a:spcPts val="4293"/>
              </a:lnSpc>
              <a:buFont typeface="Arial"/>
              <a:buChar char="⚬"/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</a:t>
            </a: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riting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Limited too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ls for hand writing skills.</a:t>
            </a:r>
          </a:p>
          <a:p>
            <a:pPr algn="just" marL="1165886" indent="-388629" lvl="2">
              <a:lnSpc>
                <a:spcPts val="4293"/>
              </a:lnSpc>
              <a:buFont typeface="Arial"/>
              <a:buChar char="⚬"/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Speech: 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Pronunciation delays affect communication.</a:t>
            </a:r>
          </a:p>
          <a:p>
            <a:pPr algn="just" marL="1165886" indent="-388629" lvl="2">
              <a:lnSpc>
                <a:spcPts val="4293"/>
              </a:lnSpc>
              <a:buFont typeface="Arial"/>
              <a:buChar char="⚬"/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Math: 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Difficulty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with basic conce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pts; Finger Math helps.</a:t>
            </a:r>
          </a:p>
          <a:p>
            <a:pPr algn="just" marL="1165886" indent="-388629" lvl="2">
              <a:lnSpc>
                <a:spcPts val="4293"/>
              </a:lnSpc>
              <a:buFont typeface="Arial"/>
              <a:buChar char="⚬"/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</a:t>
            </a: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ross Motor: </a:t>
            </a: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limits physical activity apps.</a:t>
            </a:r>
          </a:p>
          <a:p>
            <a:pPr algn="just">
              <a:lnSpc>
                <a:spcPts val="31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B57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6243" y="474731"/>
            <a:ext cx="17380313" cy="7248284"/>
            <a:chOff x="0" y="0"/>
            <a:chExt cx="23173751" cy="966437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63059" y="314325"/>
              <a:ext cx="17572072" cy="3511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6489"/>
                </a:lnSpc>
              </a:pPr>
              <a:r>
                <a:rPr lang="en-US" b="true" sz="8111" i="true">
                  <a:solidFill>
                    <a:srgbClr val="EDAE22"/>
                  </a:solidFill>
                  <a:latin typeface="Barlow Condensed Bold Italics"/>
                  <a:ea typeface="Barlow Condensed Bold Italics"/>
                  <a:cs typeface="Barlow Condensed Bold Italics"/>
                  <a:sym typeface="Barlow Condensed Bold Italics"/>
                </a:rPr>
                <a:t>RESEARCH GOALS</a:t>
              </a:r>
            </a:p>
            <a:p>
              <a:pPr algn="l">
                <a:lnSpc>
                  <a:spcPts val="6489"/>
                </a:lnSpc>
              </a:pPr>
            </a:p>
            <a:p>
              <a:pPr algn="r">
                <a:lnSpc>
                  <a:spcPts val="648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11845"/>
              <a:ext cx="23173751" cy="7852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20427" indent="-410214" lvl="1">
                <a:lnSpc>
                  <a:spcPts val="6042"/>
                </a:lnSpc>
                <a:buFont typeface="Arial"/>
                <a:buChar char="•"/>
              </a:pP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Objective: </a:t>
              </a:r>
              <a:r>
                <a:rPr lang="en-US" sz="3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Improve quality of</a:t>
              </a:r>
              <a:r>
                <a:rPr lang="en-US" sz="3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life for Down syndrome children in Sri Lanka.</a:t>
              </a:r>
            </a:p>
            <a:p>
              <a:pPr algn="just" marL="820427" indent="-410214" lvl="1">
                <a:lnSpc>
                  <a:spcPts val="6042"/>
                </a:lnSpc>
                <a:buFont typeface="Arial"/>
                <a:buChar char="•"/>
              </a:pP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</a:t>
              </a: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arget Audience: </a:t>
              </a:r>
              <a:r>
                <a:rPr lang="en-US" sz="3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Low-income famili</a:t>
              </a:r>
              <a:r>
                <a:rPr lang="en-US" sz="3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es with limited resources.</a:t>
              </a:r>
            </a:p>
            <a:p>
              <a:pPr algn="just" marL="820427" indent="-410214" lvl="1">
                <a:lnSpc>
                  <a:spcPts val="6042"/>
                </a:lnSpc>
                <a:buFont typeface="Arial"/>
                <a:buChar char="•"/>
              </a:pP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Approach:</a:t>
              </a:r>
              <a:r>
                <a:rPr lang="en-US" sz="38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Multisensory learning (visual, auditory, kinesthetic).</a:t>
              </a:r>
            </a:p>
            <a:p>
              <a:pPr algn="just" marL="820427" indent="-410214" lvl="1">
                <a:lnSpc>
                  <a:spcPts val="6042"/>
                </a:lnSpc>
                <a:buFont typeface="Arial"/>
                <a:buChar char="•"/>
              </a:pP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Parental involvement for su</a:t>
              </a: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</a:t>
              </a: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ervision (30 mins/day).</a:t>
              </a:r>
            </a:p>
            <a:p>
              <a:pPr algn="just" marL="820427" indent="-410214" lvl="1">
                <a:lnSpc>
                  <a:spcPts val="6042"/>
                </a:lnSpc>
                <a:buFont typeface="Arial"/>
                <a:buChar char="•"/>
              </a:pPr>
              <a:r>
                <a:rPr lang="en-US" b="true" sz="38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Make it easy for parents and teachers to use.</a:t>
              </a:r>
            </a:p>
            <a:p>
              <a:pPr algn="just">
                <a:lnSpc>
                  <a:spcPts val="6042"/>
                </a:lnSpc>
              </a:pPr>
            </a:p>
            <a:p>
              <a:pPr algn="just">
                <a:lnSpc>
                  <a:spcPts val="492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57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4123" y="1705932"/>
            <a:ext cx="8639754" cy="8372189"/>
          </a:xfrm>
          <a:custGeom>
            <a:avLst/>
            <a:gdLst/>
            <a:ahLst/>
            <a:cxnLst/>
            <a:rect r="r" b="b" t="t" l="l"/>
            <a:pathLst>
              <a:path h="8372189" w="8639754">
                <a:moveTo>
                  <a:pt x="0" y="0"/>
                </a:moveTo>
                <a:lnTo>
                  <a:pt x="8639754" y="0"/>
                </a:lnTo>
                <a:lnTo>
                  <a:pt x="8639754" y="8372189"/>
                </a:lnTo>
                <a:lnTo>
                  <a:pt x="0" y="837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0" t="0" r="-424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8538" y="789056"/>
            <a:ext cx="13179054" cy="91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9"/>
              </a:lnSpc>
            </a:pPr>
            <a:r>
              <a:rPr lang="en-US" b="true" sz="8111" i="true">
                <a:solidFill>
                  <a:srgbClr val="EDAE22"/>
                </a:solidFill>
                <a:latin typeface="Barlow Condensed Bold Italics"/>
                <a:ea typeface="Barlow Condensed Bold Italics"/>
                <a:cs typeface="Barlow Condensed Bold Italics"/>
                <a:sym typeface="Barlow Condensed Bold Italics"/>
              </a:rPr>
              <a:t>SYSTEM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5113" y="2858743"/>
            <a:ext cx="14347617" cy="7073850"/>
          </a:xfrm>
          <a:custGeom>
            <a:avLst/>
            <a:gdLst/>
            <a:ahLst/>
            <a:cxnLst/>
            <a:rect r="r" b="b" t="t" l="l"/>
            <a:pathLst>
              <a:path h="7073850" w="14347617">
                <a:moveTo>
                  <a:pt x="0" y="0"/>
                </a:moveTo>
                <a:lnTo>
                  <a:pt x="14347617" y="0"/>
                </a:lnTo>
                <a:lnTo>
                  <a:pt x="14347617" y="7073849"/>
                </a:lnTo>
                <a:lnTo>
                  <a:pt x="0" y="7073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165" r="0" b="-160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62730" y="5818865"/>
            <a:ext cx="3329995" cy="3549413"/>
          </a:xfrm>
          <a:custGeom>
            <a:avLst/>
            <a:gdLst/>
            <a:ahLst/>
            <a:cxnLst/>
            <a:rect r="r" b="b" t="t" l="l"/>
            <a:pathLst>
              <a:path h="3549413" w="3329995">
                <a:moveTo>
                  <a:pt x="0" y="0"/>
                </a:moveTo>
                <a:lnTo>
                  <a:pt x="3329995" y="0"/>
                </a:lnTo>
                <a:lnTo>
                  <a:pt x="3329995" y="3549414"/>
                </a:lnTo>
                <a:lnTo>
                  <a:pt x="0" y="3549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5273" y="890219"/>
            <a:ext cx="15457635" cy="154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BE20B"/>
                </a:solidFill>
                <a:latin typeface="Sniglet"/>
                <a:ea typeface="Sniglet"/>
                <a:cs typeface="Sniglet"/>
                <a:sym typeface="Sniglet"/>
              </a:rPr>
              <a:t>TEACHING BASIC MATHEMATICS USING FINGER MATHS</a:t>
            </a:r>
          </a:p>
        </p:txBody>
      </p:sp>
      <p:sp>
        <p:nvSpPr>
          <p:cNvPr name="TextBox 5" id="5"/>
          <p:cNvSpPr txBox="true"/>
          <p:nvPr/>
        </p:nvSpPr>
        <p:spPr>
          <a:xfrm rot="-78708">
            <a:off x="5181236" y="45389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5113" y="2792068"/>
            <a:ext cx="13470641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Goal: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Teach children with Down syndrome numbers and basic arithmetic using finger maths.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Why It Matters: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M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aths is hard for kids to grasp.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Finger Math uses touch and visuals to make learning concrete.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Fact: 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All humans learn numbers and math using fingers as kids because moving fingers helps the brain remember numbers with muscle memory.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Target Skills: 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Number recognition, sequences, addition, subtraction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75470" y="253980"/>
            <a:ext cx="6401197" cy="9779040"/>
          </a:xfrm>
          <a:custGeom>
            <a:avLst/>
            <a:gdLst/>
            <a:ahLst/>
            <a:cxnLst/>
            <a:rect r="r" b="b" t="t" l="l"/>
            <a:pathLst>
              <a:path h="9779040" w="6401197">
                <a:moveTo>
                  <a:pt x="0" y="0"/>
                </a:moveTo>
                <a:lnTo>
                  <a:pt x="6401196" y="0"/>
                </a:lnTo>
                <a:lnTo>
                  <a:pt x="6401196" y="9779040"/>
                </a:lnTo>
                <a:lnTo>
                  <a:pt x="0" y="977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78708">
            <a:off x="5181236" y="45389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13317" y="496743"/>
            <a:ext cx="15457635" cy="71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3"/>
              </a:lnSpc>
            </a:pPr>
            <a:r>
              <a:rPr lang="en-US" sz="6367">
                <a:solidFill>
                  <a:srgbClr val="EBE20B"/>
                </a:solidFill>
                <a:latin typeface="Sniglet"/>
                <a:ea typeface="Sniglet"/>
                <a:cs typeface="Sniglet"/>
                <a:sym typeface="Sniglet"/>
              </a:rPr>
              <a:t>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-78708">
            <a:off x="4713724" y="4085146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2557299"/>
            <a:ext cx="11453575" cy="7475721"/>
          </a:xfrm>
          <a:custGeom>
            <a:avLst/>
            <a:gdLst/>
            <a:ahLst/>
            <a:cxnLst/>
            <a:rect r="r" b="b" t="t" l="l"/>
            <a:pathLst>
              <a:path h="7475721" w="11453575">
                <a:moveTo>
                  <a:pt x="0" y="0"/>
                </a:moveTo>
                <a:lnTo>
                  <a:pt x="11453575" y="0"/>
                </a:lnTo>
                <a:lnTo>
                  <a:pt x="11453575" y="7475721"/>
                </a:lnTo>
                <a:lnTo>
                  <a:pt x="0" y="7475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866" r="-25267" b="-9800"/>
            </a:stretch>
          </a:blipFill>
        </p:spPr>
      </p:sp>
      <p:sp>
        <p:nvSpPr>
          <p:cNvPr name="TextBox 7" id="7"/>
          <p:cNvSpPr txBox="true"/>
          <p:nvPr/>
        </p:nvSpPr>
        <p:spPr>
          <a:xfrm rot="-78708">
            <a:off x="4866124" y="4237546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201692" y="2371177"/>
            <a:ext cx="11655267" cy="83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Approach: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Stage 1: Learn single digits (0-10) with images and Sinhala audio and practice.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Stage 2: Learn number sequences (e.g., 1, 2, 3…) and practice.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stage 3:Learn Addition of two numbers and practice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stage 4:Learn Subtraction of two numbers and practice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Tec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hnology: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Zustand: State management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CNN: Recognizes hand gestures from video input.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Med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iaPipe &amp; OpenCV: Real-time finger tr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acking (by key points).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Exercises: 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Number identification, sequence, addition, subtraction.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708">
            <a:off x="5181236" y="45389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1616" y="2411921"/>
            <a:ext cx="11372697" cy="7875079"/>
          </a:xfrm>
          <a:custGeom>
            <a:avLst/>
            <a:gdLst/>
            <a:ahLst/>
            <a:cxnLst/>
            <a:rect r="r" b="b" t="t" l="l"/>
            <a:pathLst>
              <a:path h="7875079" w="11372697">
                <a:moveTo>
                  <a:pt x="0" y="0"/>
                </a:moveTo>
                <a:lnTo>
                  <a:pt x="11372697" y="0"/>
                </a:lnTo>
                <a:lnTo>
                  <a:pt x="11372697" y="7875079"/>
                </a:lnTo>
                <a:lnTo>
                  <a:pt x="0" y="78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7" t="-30404" r="0" b="-4208"/>
            </a:stretch>
          </a:blipFill>
        </p:spPr>
      </p:sp>
      <p:sp>
        <p:nvSpPr>
          <p:cNvPr name="TextBox 4" id="4"/>
          <p:cNvSpPr txBox="true"/>
          <p:nvPr/>
        </p:nvSpPr>
        <p:spPr>
          <a:xfrm rot="-78708">
            <a:off x="5333636" y="46913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40666" y="2345246"/>
            <a:ext cx="10747580" cy="89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Dataset: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Kaggle "Sign Language Hand Gestures" (0-9 + Unknown).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CNN Model: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Input: 64x64 RGB images, normalized [0,1].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ayers: Convolutional (featur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 extraction), MaxPooling, Dense, Softmax.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Training: 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80% train, 20% test; 15-20 epochs, batc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h size 32.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Enhancements: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Batch normalization for stability.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Dro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pout to prevent overfitting.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Real-Time: MediaPipe extr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acts 21 finger points; OpenCV captures video.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265321" y="0"/>
            <a:ext cx="7022679" cy="10287000"/>
          </a:xfrm>
          <a:custGeom>
            <a:avLst/>
            <a:gdLst/>
            <a:ahLst/>
            <a:cxnLst/>
            <a:rect r="r" b="b" t="t" l="l"/>
            <a:pathLst>
              <a:path h="10287000" w="7022679">
                <a:moveTo>
                  <a:pt x="0" y="0"/>
                </a:moveTo>
                <a:lnTo>
                  <a:pt x="7022679" y="0"/>
                </a:lnTo>
                <a:lnTo>
                  <a:pt x="702267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6" t="0" r="-229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7673" y="1042619"/>
            <a:ext cx="15457635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BE20B"/>
                </a:solidFill>
                <a:latin typeface="Sniglet"/>
                <a:ea typeface="Sniglet"/>
                <a:cs typeface="Sniglet"/>
                <a:sym typeface="Sniglet"/>
              </a:rPr>
              <a:t>METHODOLOGY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708">
            <a:off x="5181236" y="45389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53832" y="2196544"/>
            <a:ext cx="11902614" cy="8090456"/>
          </a:xfrm>
          <a:custGeom>
            <a:avLst/>
            <a:gdLst/>
            <a:ahLst/>
            <a:cxnLst/>
            <a:rect r="r" b="b" t="t" l="l"/>
            <a:pathLst>
              <a:path h="8090456" w="11902614">
                <a:moveTo>
                  <a:pt x="0" y="0"/>
                </a:moveTo>
                <a:lnTo>
                  <a:pt x="11902613" y="0"/>
                </a:lnTo>
                <a:lnTo>
                  <a:pt x="11902613" y="8090456"/>
                </a:lnTo>
                <a:lnTo>
                  <a:pt x="0" y="8090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92" t="-18885" r="-2287" b="-536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67570" y="5173242"/>
            <a:ext cx="6266529" cy="4994871"/>
          </a:xfrm>
          <a:custGeom>
            <a:avLst/>
            <a:gdLst/>
            <a:ahLst/>
            <a:cxnLst/>
            <a:rect r="r" b="b" t="t" l="l"/>
            <a:pathLst>
              <a:path h="4994871" w="6266529">
                <a:moveTo>
                  <a:pt x="0" y="0"/>
                </a:moveTo>
                <a:lnTo>
                  <a:pt x="6266529" y="0"/>
                </a:lnTo>
                <a:lnTo>
                  <a:pt x="6266529" y="4994872"/>
                </a:lnTo>
                <a:lnTo>
                  <a:pt x="0" y="4994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31252" y="238307"/>
            <a:ext cx="6212372" cy="4973035"/>
          </a:xfrm>
          <a:custGeom>
            <a:avLst/>
            <a:gdLst/>
            <a:ahLst/>
            <a:cxnLst/>
            <a:rect r="r" b="b" t="t" l="l"/>
            <a:pathLst>
              <a:path h="4973035" w="6212372">
                <a:moveTo>
                  <a:pt x="0" y="0"/>
                </a:moveTo>
                <a:lnTo>
                  <a:pt x="6212372" y="0"/>
                </a:lnTo>
                <a:lnTo>
                  <a:pt x="6212372" y="4973035"/>
                </a:lnTo>
                <a:lnTo>
                  <a:pt x="0" y="4973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78708">
            <a:off x="5333636" y="46913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3066" y="2497646"/>
            <a:ext cx="1080809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Performance: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Accuracy: 88%.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oss: 0.35%.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Outcom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Correct gestur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es recognition(&gt;0.6) predict the number.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Low-confidence gestures (&lt;0.6) prompt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"Unclear Gesture! Try Again."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Prog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ress Tracking: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History logged for p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arents to identify weak areas.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27673" y="1042619"/>
            <a:ext cx="15457635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BE20B"/>
                </a:solidFill>
                <a:latin typeface="Sniglet"/>
                <a:ea typeface="Sniglet"/>
                <a:cs typeface="Sniglet"/>
                <a:sym typeface="Sniglet"/>
              </a:rP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708">
            <a:off x="5181236" y="45389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67513" y="3011143"/>
            <a:ext cx="14347617" cy="7073850"/>
          </a:xfrm>
          <a:custGeom>
            <a:avLst/>
            <a:gdLst/>
            <a:ahLst/>
            <a:cxnLst/>
            <a:rect r="r" b="b" t="t" l="l"/>
            <a:pathLst>
              <a:path h="7073850" w="14347617">
                <a:moveTo>
                  <a:pt x="0" y="0"/>
                </a:moveTo>
                <a:lnTo>
                  <a:pt x="14347617" y="0"/>
                </a:lnTo>
                <a:lnTo>
                  <a:pt x="14347617" y="7073849"/>
                </a:lnTo>
                <a:lnTo>
                  <a:pt x="0" y="7073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165" r="0" b="-1603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27673" y="1042619"/>
            <a:ext cx="15457635" cy="154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BE20B"/>
                </a:solidFill>
                <a:latin typeface="Sniglet"/>
                <a:ea typeface="Sniglet"/>
                <a:cs typeface="Sniglet"/>
                <a:sym typeface="Sniglet"/>
              </a:rPr>
              <a:t>BENEFITS &amp; IMPACT</a:t>
            </a:r>
          </a:p>
          <a:p>
            <a:pPr algn="just">
              <a:lnSpc>
                <a:spcPts val="573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-78708">
            <a:off x="5333636" y="46913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7513" y="3224160"/>
            <a:ext cx="13470641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Benefits: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Engaging: Audio, visuals, and rew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ards boost memory.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Effective: Finger Math simplifies number compre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hension.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Access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ible: Real-time feedback at home.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Imp</a:t>
            </a: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act: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Improves math skills for daily life.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Empowers children and parents with an interactive tool.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58618" y="1336601"/>
            <a:ext cx="6943901" cy="4339938"/>
          </a:xfrm>
          <a:custGeom>
            <a:avLst/>
            <a:gdLst/>
            <a:ahLst/>
            <a:cxnLst/>
            <a:rect r="r" b="b" t="t" l="l"/>
            <a:pathLst>
              <a:path h="4339938" w="6943901">
                <a:moveTo>
                  <a:pt x="0" y="0"/>
                </a:moveTo>
                <a:lnTo>
                  <a:pt x="6943901" y="0"/>
                </a:lnTo>
                <a:lnTo>
                  <a:pt x="6943901" y="4339938"/>
                </a:lnTo>
                <a:lnTo>
                  <a:pt x="0" y="4339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7673" y="1420100"/>
            <a:ext cx="8094348" cy="3723400"/>
          </a:xfrm>
          <a:custGeom>
            <a:avLst/>
            <a:gdLst/>
            <a:ahLst/>
            <a:cxnLst/>
            <a:rect r="r" b="b" t="t" l="l"/>
            <a:pathLst>
              <a:path h="3723400" w="8094348">
                <a:moveTo>
                  <a:pt x="0" y="0"/>
                </a:moveTo>
                <a:lnTo>
                  <a:pt x="8094349" y="0"/>
                </a:lnTo>
                <a:lnTo>
                  <a:pt x="8094349" y="3723400"/>
                </a:lnTo>
                <a:lnTo>
                  <a:pt x="0" y="3723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75065" y="6123947"/>
            <a:ext cx="6927453" cy="3299200"/>
          </a:xfrm>
          <a:custGeom>
            <a:avLst/>
            <a:gdLst/>
            <a:ahLst/>
            <a:cxnLst/>
            <a:rect r="r" b="b" t="t" l="l"/>
            <a:pathLst>
              <a:path h="3299200" w="6927453">
                <a:moveTo>
                  <a:pt x="0" y="0"/>
                </a:moveTo>
                <a:lnTo>
                  <a:pt x="6927454" y="0"/>
                </a:lnTo>
                <a:lnTo>
                  <a:pt x="6927454" y="3299199"/>
                </a:lnTo>
                <a:lnTo>
                  <a:pt x="0" y="3299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78708">
            <a:off x="5181236" y="453898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26097" y="515314"/>
            <a:ext cx="15457635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BE20B"/>
                </a:solidFill>
                <a:latin typeface="Sniglet"/>
                <a:ea typeface="Sniglet"/>
                <a:cs typeface="Sniglet"/>
                <a:sym typeface="Sniglet"/>
              </a:rPr>
              <a:t>UI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6097" y="5847384"/>
            <a:ext cx="8131558" cy="3852326"/>
          </a:xfrm>
          <a:custGeom>
            <a:avLst/>
            <a:gdLst/>
            <a:ahLst/>
            <a:cxnLst/>
            <a:rect r="r" b="b" t="t" l="l"/>
            <a:pathLst>
              <a:path h="3852326" w="8131558">
                <a:moveTo>
                  <a:pt x="0" y="0"/>
                </a:moveTo>
                <a:lnTo>
                  <a:pt x="8131558" y="0"/>
                </a:lnTo>
                <a:lnTo>
                  <a:pt x="8131558" y="3852325"/>
                </a:lnTo>
                <a:lnTo>
                  <a:pt x="0" y="3852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22875" y="2500510"/>
            <a:ext cx="5511468" cy="7088705"/>
          </a:xfrm>
          <a:custGeom>
            <a:avLst/>
            <a:gdLst/>
            <a:ahLst/>
            <a:cxnLst/>
            <a:rect r="r" b="b" t="t" l="l"/>
            <a:pathLst>
              <a:path h="7088705" w="5511468">
                <a:moveTo>
                  <a:pt x="0" y="0"/>
                </a:moveTo>
                <a:lnTo>
                  <a:pt x="5511469" y="0"/>
                </a:lnTo>
                <a:lnTo>
                  <a:pt x="5511469" y="7088706"/>
                </a:lnTo>
                <a:lnTo>
                  <a:pt x="0" y="708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80080" y="750395"/>
            <a:ext cx="14534724" cy="82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ENHANCING GROSS MOTOR SKILLS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36024"/>
            <a:ext cx="1285323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Improve gross motor skills in children with Down Syndrome using an interactive system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49922" y="2500510"/>
            <a:ext cx="11268233" cy="7639076"/>
            <a:chOff x="0" y="0"/>
            <a:chExt cx="15024311" cy="10185435"/>
          </a:xfrm>
        </p:grpSpPr>
        <p:sp>
          <p:nvSpPr>
            <p:cNvPr name="Freeform 6" id="6"/>
            <p:cNvSpPr/>
            <p:nvPr/>
          </p:nvSpPr>
          <p:spPr>
            <a:xfrm flipH="false" flipV="false" rot="30000">
              <a:off x="-44161" y="-64098"/>
              <a:ext cx="14823129" cy="10313631"/>
            </a:xfrm>
            <a:custGeom>
              <a:avLst/>
              <a:gdLst/>
              <a:ahLst/>
              <a:cxnLst/>
              <a:rect r="r" b="b" t="t" l="l"/>
              <a:pathLst>
                <a:path h="10313631" w="14823129">
                  <a:moveTo>
                    <a:pt x="0" y="128584"/>
                  </a:moveTo>
                  <a:lnTo>
                    <a:pt x="14734245" y="0"/>
                  </a:lnTo>
                  <a:lnTo>
                    <a:pt x="14823129" y="10185047"/>
                  </a:lnTo>
                  <a:lnTo>
                    <a:pt x="88883" y="10313631"/>
                  </a:lnTo>
                  <a:lnTo>
                    <a:pt x="0" y="128584"/>
                  </a:lnTo>
                  <a:close/>
                </a:path>
              </a:pathLst>
            </a:custGeom>
            <a:blipFill>
              <a:blip r:embed="rId3"/>
              <a:stretch>
                <a:fillRect l="-330" t="41" r="-331" b="-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-78708">
              <a:off x="5731730" y="2083458"/>
              <a:ext cx="270504" cy="1422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24"/>
                </a:lnSpc>
              </a:pPr>
            </a:p>
            <a:p>
              <a:pPr algn="ctr">
                <a:lnSpc>
                  <a:spcPts val="7424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-78708">
              <a:off x="10225522" y="4368865"/>
              <a:ext cx="369339" cy="1938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36"/>
                </a:lnSpc>
              </a:pPr>
            </a:p>
            <a:p>
              <a:pPr algn="ctr">
                <a:lnSpc>
                  <a:spcPts val="10136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905037" y="1804375"/>
              <a:ext cx="14119273" cy="7161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Dynapuff Bold"/>
                  <a:ea typeface="Dynapuff Bold"/>
                  <a:cs typeface="Dynapuff Bold"/>
                  <a:sym typeface="Dynapuff Bold"/>
                </a:rPr>
                <a:t>Goal: </a:t>
              </a: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Dynapuff"/>
                  <a:ea typeface="Dynapuff"/>
                  <a:cs typeface="Dynapuff"/>
                  <a:sym typeface="Dynapuff"/>
                </a:rPr>
                <a:t>To help children with Down syndrome improve their gross motor skills through interactive, child-friendly activities</a:t>
              </a:r>
            </a:p>
            <a:p>
              <a:pPr algn="l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Dynapuff Bold"/>
                  <a:ea typeface="Dynapuff Bold"/>
                  <a:cs typeface="Dynapuff Bold"/>
                  <a:sym typeface="Dynapuff Bold"/>
                </a:rPr>
                <a:t>Target Skills:</a:t>
              </a: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Dynapuff"/>
                  <a:ea typeface="Dynapuff"/>
                  <a:cs typeface="Dynapuff"/>
                  <a:sym typeface="Dynapuff"/>
                </a:rPr>
                <a:t>Balance</a:t>
              </a: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Dynapuff"/>
                  <a:ea typeface="Dynapuff"/>
                  <a:cs typeface="Dynapuff"/>
                  <a:sym typeface="Dynapuff"/>
                </a:rPr>
                <a:t>Strength</a:t>
              </a: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Dynapuff"/>
                  <a:ea typeface="Dynapuff"/>
                  <a:cs typeface="Dynapuff"/>
                  <a:sym typeface="Dynapuff"/>
                </a:rPr>
                <a:t>Mobility</a:t>
              </a:r>
            </a:p>
            <a:p>
              <a:pPr algn="l" marL="734059" indent="-367030" lvl="1">
                <a:lnSpc>
                  <a:spcPts val="4759"/>
                </a:lnSpc>
                <a:buFont typeface="Arial"/>
                <a:buChar char="•"/>
              </a:pPr>
              <a:r>
                <a:rPr lang="en-US" sz="3399">
                  <a:solidFill>
                    <a:srgbClr val="000000"/>
                  </a:solidFill>
                  <a:latin typeface="Dynapuff"/>
                  <a:ea typeface="Dynapuff"/>
                  <a:cs typeface="Dynapuff"/>
                  <a:sym typeface="Dynapuff"/>
                </a:rPr>
                <a:t>Coordination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5301" y="751406"/>
            <a:ext cx="14534724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111919" y="1572694"/>
            <a:ext cx="12064162" cy="8339352"/>
            <a:chOff x="0" y="0"/>
            <a:chExt cx="16085549" cy="111191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85549" cy="11119136"/>
            </a:xfrm>
            <a:custGeom>
              <a:avLst/>
              <a:gdLst/>
              <a:ahLst/>
              <a:cxnLst/>
              <a:rect r="r" b="b" t="t" l="l"/>
              <a:pathLst>
                <a:path h="11119136" w="16085549">
                  <a:moveTo>
                    <a:pt x="0" y="0"/>
                  </a:moveTo>
                  <a:lnTo>
                    <a:pt x="16085549" y="0"/>
                  </a:lnTo>
                  <a:lnTo>
                    <a:pt x="16085549" y="11119136"/>
                  </a:lnTo>
                  <a:lnTo>
                    <a:pt x="0" y="11119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-78708">
              <a:off x="7901953" y="1674356"/>
              <a:ext cx="369339" cy="1938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36"/>
                </a:lnSpc>
              </a:pPr>
            </a:p>
            <a:p>
              <a:pPr algn="ctr">
                <a:lnSpc>
                  <a:spcPts val="1013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193221" y="1022208"/>
              <a:ext cx="7699106" cy="2102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96"/>
                </a:lnSpc>
              </a:pPr>
              <a:r>
                <a:rPr lang="en-US" sz="6662" b="true">
                  <a:solidFill>
                    <a:srgbClr val="2B5784"/>
                  </a:solidFill>
                  <a:latin typeface="Dynapuff Bold"/>
                  <a:ea typeface="Dynapuff Bold"/>
                  <a:cs typeface="Dynapuff Bold"/>
                  <a:sym typeface="Dynapuff Bold"/>
                </a:rPr>
                <a:t>How IT Works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17418" y="3377043"/>
              <a:ext cx="14850713" cy="7742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Identifies the child’s skill level</a:t>
              </a:r>
            </a:p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Provides a random gross motor skill activity.</a:t>
              </a:r>
            </a:p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Captures or uploads a video for analysis.</a:t>
              </a:r>
            </a:p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Predicts the action and classifies skill level (easy, medium, hard).</a:t>
              </a:r>
            </a:p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Provides feedback and personalized activity recommendations.</a:t>
              </a:r>
            </a:p>
            <a:p>
              <a:pPr algn="l">
                <a:lnSpc>
                  <a:spcPts val="5798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52395" y="1966403"/>
            <a:ext cx="7012039" cy="4382524"/>
          </a:xfrm>
          <a:custGeom>
            <a:avLst/>
            <a:gdLst/>
            <a:ahLst/>
            <a:cxnLst/>
            <a:rect r="r" b="b" t="t" l="l"/>
            <a:pathLst>
              <a:path h="4382524" w="7012039">
                <a:moveTo>
                  <a:pt x="0" y="0"/>
                </a:moveTo>
                <a:lnTo>
                  <a:pt x="7012039" y="0"/>
                </a:lnTo>
                <a:lnTo>
                  <a:pt x="7012039" y="4382524"/>
                </a:lnTo>
                <a:lnTo>
                  <a:pt x="0" y="4382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6369" y="2001261"/>
            <a:ext cx="6956266" cy="4347666"/>
          </a:xfrm>
          <a:custGeom>
            <a:avLst/>
            <a:gdLst/>
            <a:ahLst/>
            <a:cxnLst/>
            <a:rect r="r" b="b" t="t" l="l"/>
            <a:pathLst>
              <a:path h="4347666" w="6956266">
                <a:moveTo>
                  <a:pt x="0" y="0"/>
                </a:moveTo>
                <a:lnTo>
                  <a:pt x="6956266" y="0"/>
                </a:lnTo>
                <a:lnTo>
                  <a:pt x="6956266" y="4347666"/>
                </a:lnTo>
                <a:lnTo>
                  <a:pt x="0" y="4347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36395" y="6550503"/>
            <a:ext cx="5615209" cy="3509506"/>
          </a:xfrm>
          <a:custGeom>
            <a:avLst/>
            <a:gdLst/>
            <a:ahLst/>
            <a:cxnLst/>
            <a:rect r="r" b="b" t="t" l="l"/>
            <a:pathLst>
              <a:path h="3509506" w="5615209">
                <a:moveTo>
                  <a:pt x="0" y="0"/>
                </a:moveTo>
                <a:lnTo>
                  <a:pt x="5615210" y="0"/>
                </a:lnTo>
                <a:lnTo>
                  <a:pt x="5615210" y="3509506"/>
                </a:lnTo>
                <a:lnTo>
                  <a:pt x="0" y="3509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5301" y="751406"/>
            <a:ext cx="14534724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UI</a:t>
            </a:r>
          </a:p>
        </p:txBody>
      </p:sp>
      <p:sp>
        <p:nvSpPr>
          <p:cNvPr name="TextBox 6" id="6"/>
          <p:cNvSpPr txBox="true"/>
          <p:nvPr/>
        </p:nvSpPr>
        <p:spPr>
          <a:xfrm rot="-78708">
            <a:off x="9039174" y="2897508"/>
            <a:ext cx="277004" cy="138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6"/>
              </a:lnSpc>
            </a:pPr>
          </a:p>
          <a:p>
            <a:pPr algn="ctr">
              <a:lnSpc>
                <a:spcPts val="1013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708">
            <a:off x="12457149" y="436407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53162" y="3294926"/>
            <a:ext cx="2928160" cy="6710367"/>
          </a:xfrm>
          <a:custGeom>
            <a:avLst/>
            <a:gdLst/>
            <a:ahLst/>
            <a:cxnLst/>
            <a:rect r="r" b="b" t="t" l="l"/>
            <a:pathLst>
              <a:path h="6710367" w="2928160">
                <a:moveTo>
                  <a:pt x="0" y="0"/>
                </a:moveTo>
                <a:lnTo>
                  <a:pt x="2928160" y="0"/>
                </a:lnTo>
                <a:lnTo>
                  <a:pt x="2928160" y="6710367"/>
                </a:lnTo>
                <a:lnTo>
                  <a:pt x="0" y="671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383" y="610165"/>
            <a:ext cx="14534724" cy="82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DEVELOPING WORD PRONUNCIATION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0000">
            <a:off x="5957946" y="2318143"/>
            <a:ext cx="11117347" cy="7735223"/>
          </a:xfrm>
          <a:custGeom>
            <a:avLst/>
            <a:gdLst/>
            <a:ahLst/>
            <a:cxnLst/>
            <a:rect r="r" b="b" t="t" l="l"/>
            <a:pathLst>
              <a:path h="7735223" w="11117347">
                <a:moveTo>
                  <a:pt x="0" y="96438"/>
                </a:moveTo>
                <a:lnTo>
                  <a:pt x="11050684" y="0"/>
                </a:lnTo>
                <a:lnTo>
                  <a:pt x="11117347" y="7638785"/>
                </a:lnTo>
                <a:lnTo>
                  <a:pt x="66663" y="7735223"/>
                </a:lnTo>
                <a:lnTo>
                  <a:pt x="0" y="96438"/>
                </a:lnTo>
                <a:close/>
              </a:path>
            </a:pathLst>
          </a:custGeom>
          <a:blipFill>
            <a:blip r:embed="rId4"/>
            <a:stretch>
              <a:fillRect l="-330" t="41" r="-331" b="-48"/>
            </a:stretch>
          </a:blipFill>
        </p:spPr>
      </p:sp>
      <p:sp>
        <p:nvSpPr>
          <p:cNvPr name="TextBox 6" id="6"/>
          <p:cNvSpPr txBox="true"/>
          <p:nvPr/>
        </p:nvSpPr>
        <p:spPr>
          <a:xfrm rot="-78708">
            <a:off x="10290437" y="3978810"/>
            <a:ext cx="202878" cy="101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</a:p>
          <a:p>
            <a:pPr algn="ctr">
              <a:lnSpc>
                <a:spcPts val="742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-78708">
            <a:off x="13660999" y="5711913"/>
            <a:ext cx="277004" cy="138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6"/>
              </a:lnSpc>
            </a:pPr>
          </a:p>
          <a:p>
            <a:pPr algn="ctr">
              <a:lnSpc>
                <a:spcPts val="1013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452717" y="3267710"/>
            <a:ext cx="10589455" cy="599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Dynapuff Bold"/>
                <a:ea typeface="Dynapuff Bold"/>
                <a:cs typeface="Dynapuff Bold"/>
                <a:sym typeface="Dynapuff Bold"/>
              </a:rPr>
              <a:t>Goal: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To enhance the pronunciation and vocabulary skills of children with Down syndrome, enabling them to communicate more clearly and confidently.</a:t>
            </a:r>
          </a:p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Dynapuff Bold"/>
                <a:ea typeface="Dynapuff Bold"/>
                <a:cs typeface="Dynapuff Bold"/>
                <a:sym typeface="Dynapuff Bold"/>
              </a:rPr>
              <a:t>Target Skills: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Pronunciation Accuracy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Mouth Coordination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Breathing Control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Vacabulary Expansion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72909" y="3798454"/>
            <a:ext cx="4740555" cy="1703175"/>
            <a:chOff x="0" y="0"/>
            <a:chExt cx="6320740" cy="2270900"/>
          </a:xfrm>
        </p:grpSpPr>
        <p:sp>
          <p:nvSpPr>
            <p:cNvPr name="TextBox 3" id="3"/>
            <p:cNvSpPr txBox="true"/>
            <p:nvPr/>
          </p:nvSpPr>
          <p:spPr>
            <a:xfrm rot="-78708">
              <a:off x="3044781" y="677977"/>
              <a:ext cx="303216" cy="1589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21"/>
                </a:lnSpc>
              </a:pPr>
            </a:p>
            <a:p>
              <a:pPr algn="ctr">
                <a:lnSpc>
                  <a:spcPts val="8321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33350"/>
              <a:ext cx="6320740" cy="1733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86"/>
                </a:lnSpc>
              </a:pPr>
              <a:r>
                <a:rPr lang="en-US" sz="5469" b="true">
                  <a:solidFill>
                    <a:srgbClr val="2B5784"/>
                  </a:solidFill>
                  <a:latin typeface="Dynapuff Bold"/>
                  <a:ea typeface="Dynapuff Bold"/>
                  <a:cs typeface="Dynapuff Bold"/>
                  <a:sym typeface="Dynapuff Bold"/>
                </a:rPr>
                <a:t>How IT Works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5383" y="610165"/>
            <a:ext cx="14534724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METHODOLOGY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942493" y="1188962"/>
            <a:ext cx="11472343" cy="8625334"/>
            <a:chOff x="0" y="0"/>
            <a:chExt cx="15296457" cy="115004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96457" cy="11500445"/>
            </a:xfrm>
            <a:custGeom>
              <a:avLst/>
              <a:gdLst/>
              <a:ahLst/>
              <a:cxnLst/>
              <a:rect r="r" b="b" t="t" l="l"/>
              <a:pathLst>
                <a:path h="11500445" w="15296457">
                  <a:moveTo>
                    <a:pt x="0" y="0"/>
                  </a:moveTo>
                  <a:lnTo>
                    <a:pt x="15296457" y="0"/>
                  </a:lnTo>
                  <a:lnTo>
                    <a:pt x="15296457" y="11500445"/>
                  </a:lnTo>
                  <a:lnTo>
                    <a:pt x="0" y="1150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82" t="0" r="-4382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-78708">
              <a:off x="7514361" y="1596243"/>
              <a:ext cx="351220" cy="1839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39"/>
                </a:lnSpc>
              </a:pPr>
            </a:p>
            <a:p>
              <a:pPr algn="ctr">
                <a:lnSpc>
                  <a:spcPts val="963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987519" y="970948"/>
              <a:ext cx="7321419" cy="2000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92"/>
                </a:lnSpc>
              </a:pPr>
              <a:r>
                <a:rPr lang="en-US" sz="6335" b="true">
                  <a:solidFill>
                    <a:srgbClr val="2B5784"/>
                  </a:solidFill>
                  <a:latin typeface="Dynapuff Bold"/>
                  <a:ea typeface="Dynapuff Bold"/>
                  <a:cs typeface="Dynapuff Bold"/>
                  <a:sym typeface="Dynapuff Bold"/>
                </a:rPr>
                <a:t>How IT Works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87130" y="3197649"/>
              <a:ext cx="14122198" cy="8302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50273" indent="-425137" lvl="1">
                <a:lnSpc>
                  <a:spcPts val="5513"/>
                </a:lnSpc>
                <a:buFont typeface="Arial"/>
                <a:buChar char="•"/>
              </a:pPr>
              <a:r>
                <a:rPr lang="en-US" sz="3938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Learn mouth movements and breathing for clear speech.</a:t>
              </a:r>
            </a:p>
            <a:p>
              <a:pPr algn="l" marL="850273" indent="-425137" lvl="1">
                <a:lnSpc>
                  <a:spcPts val="5513"/>
                </a:lnSpc>
                <a:buFont typeface="Arial"/>
                <a:buChar char="•"/>
              </a:pPr>
              <a:r>
                <a:rPr lang="en-US" sz="3938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Pronounce words accurately with guided practice.</a:t>
              </a:r>
            </a:p>
            <a:p>
              <a:pPr algn="l" marL="850273" indent="-425137" lvl="1">
                <a:lnSpc>
                  <a:spcPts val="5513"/>
                </a:lnSpc>
                <a:buFont typeface="Arial"/>
                <a:buChar char="•"/>
              </a:pPr>
              <a:r>
                <a:rPr lang="en-US" sz="3938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Expand vocabulary by linking words to real-life objects.</a:t>
              </a:r>
            </a:p>
            <a:p>
              <a:pPr algn="l" marL="850273" indent="-425137" lvl="1">
                <a:lnSpc>
                  <a:spcPts val="5513"/>
                </a:lnSpc>
                <a:buFont typeface="Arial"/>
                <a:buChar char="•"/>
              </a:pPr>
              <a:r>
                <a:rPr lang="en-US" sz="3938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Improve through feedback and progress tracking.</a:t>
              </a:r>
            </a:p>
            <a:p>
              <a:pPr algn="l">
                <a:lnSpc>
                  <a:spcPts val="5513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08781"/>
            <a:ext cx="6577714" cy="4111071"/>
          </a:xfrm>
          <a:custGeom>
            <a:avLst/>
            <a:gdLst/>
            <a:ahLst/>
            <a:cxnLst/>
            <a:rect r="r" b="b" t="t" l="l"/>
            <a:pathLst>
              <a:path h="4111071" w="6577714">
                <a:moveTo>
                  <a:pt x="0" y="0"/>
                </a:moveTo>
                <a:lnTo>
                  <a:pt x="6577714" y="0"/>
                </a:lnTo>
                <a:lnTo>
                  <a:pt x="6577714" y="4111071"/>
                </a:lnTo>
                <a:lnTo>
                  <a:pt x="0" y="4111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4032" y="1808781"/>
            <a:ext cx="6577714" cy="4111071"/>
          </a:xfrm>
          <a:custGeom>
            <a:avLst/>
            <a:gdLst/>
            <a:ahLst/>
            <a:cxnLst/>
            <a:rect r="r" b="b" t="t" l="l"/>
            <a:pathLst>
              <a:path h="4111071" w="6577714">
                <a:moveTo>
                  <a:pt x="0" y="0"/>
                </a:moveTo>
                <a:lnTo>
                  <a:pt x="6577714" y="0"/>
                </a:lnTo>
                <a:lnTo>
                  <a:pt x="6577714" y="4111071"/>
                </a:lnTo>
                <a:lnTo>
                  <a:pt x="0" y="4111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64403" y="6146339"/>
            <a:ext cx="6159193" cy="3849496"/>
          </a:xfrm>
          <a:custGeom>
            <a:avLst/>
            <a:gdLst/>
            <a:ahLst/>
            <a:cxnLst/>
            <a:rect r="r" b="b" t="t" l="l"/>
            <a:pathLst>
              <a:path h="3849496" w="6159193">
                <a:moveTo>
                  <a:pt x="0" y="0"/>
                </a:moveTo>
                <a:lnTo>
                  <a:pt x="6159194" y="0"/>
                </a:lnTo>
                <a:lnTo>
                  <a:pt x="6159194" y="3849495"/>
                </a:lnTo>
                <a:lnTo>
                  <a:pt x="0" y="3849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78708">
            <a:off x="12457149" y="4364079"/>
            <a:ext cx="227412" cy="11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21"/>
              </a:lnSpc>
            </a:pPr>
          </a:p>
          <a:p>
            <a:pPr algn="ctr">
              <a:lnSpc>
                <a:spcPts val="832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45383" y="610165"/>
            <a:ext cx="14534724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UI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6032" y="1273002"/>
            <a:ext cx="11551968" cy="7985298"/>
            <a:chOff x="0" y="0"/>
            <a:chExt cx="15402623" cy="106470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2623" cy="10647063"/>
            </a:xfrm>
            <a:custGeom>
              <a:avLst/>
              <a:gdLst/>
              <a:ahLst/>
              <a:cxnLst/>
              <a:rect r="r" b="b" t="t" l="l"/>
              <a:pathLst>
                <a:path h="10647063" w="15402623">
                  <a:moveTo>
                    <a:pt x="0" y="0"/>
                  </a:moveTo>
                  <a:lnTo>
                    <a:pt x="15402623" y="0"/>
                  </a:lnTo>
                  <a:lnTo>
                    <a:pt x="15402623" y="10647063"/>
                  </a:lnTo>
                  <a:lnTo>
                    <a:pt x="0" y="10647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-78708">
              <a:off x="7566385" y="2160930"/>
              <a:ext cx="353658" cy="1863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706"/>
                </a:lnSpc>
              </a:pPr>
            </a:p>
            <a:p>
              <a:pPr algn="ctr">
                <a:lnSpc>
                  <a:spcPts val="9706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4015195" y="1532021"/>
              <a:ext cx="7372234" cy="2024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33"/>
                </a:lnSpc>
              </a:pPr>
              <a:r>
                <a:rPr lang="en-US" sz="6379" b="true">
                  <a:solidFill>
                    <a:srgbClr val="2B5784"/>
                  </a:solidFill>
                  <a:latin typeface="Dynapuff Bold"/>
                  <a:ea typeface="Dynapuff Bold"/>
                  <a:cs typeface="Dynapuff Bold"/>
                  <a:sym typeface="Dynapuff Bold"/>
                </a:rPr>
                <a:t>How IT Works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3542602"/>
            <a:ext cx="5707332" cy="6087821"/>
          </a:xfrm>
          <a:custGeom>
            <a:avLst/>
            <a:gdLst/>
            <a:ahLst/>
            <a:cxnLst/>
            <a:rect r="r" b="b" t="t" l="l"/>
            <a:pathLst>
              <a:path h="6087821" w="5707332">
                <a:moveTo>
                  <a:pt x="0" y="0"/>
                </a:moveTo>
                <a:lnTo>
                  <a:pt x="5707332" y="0"/>
                </a:lnTo>
                <a:lnTo>
                  <a:pt x="5707332" y="6087821"/>
                </a:lnTo>
                <a:lnTo>
                  <a:pt x="0" y="6087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8539" y="751406"/>
            <a:ext cx="15457635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IMPROVING WRITING SKILLS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43602" y="3485452"/>
            <a:ext cx="7830007" cy="525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b="true">
                <a:solidFill>
                  <a:srgbClr val="000000"/>
                </a:solidFill>
                <a:latin typeface="Dynapuff Bold"/>
                <a:ea typeface="Dynapuff Bold"/>
                <a:cs typeface="Dynapuff Bold"/>
                <a:sym typeface="Dynapuff Bold"/>
              </a:rPr>
              <a:t>Goal: </a:t>
            </a:r>
          </a:p>
          <a:p>
            <a:pPr algn="l" marL="542774" indent="-271387" lvl="1">
              <a:lnSpc>
                <a:spcPts val="3519"/>
              </a:lnSpc>
              <a:buFont typeface="Arial"/>
              <a:buChar char="•"/>
            </a:pPr>
            <a:r>
              <a:rPr lang="en-US" sz="2514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To create an AI-driven educational tool that enhances Sinhala letter recognition and writing for children with Down syndrome through real-time feedback and adaptive learning</a:t>
            </a:r>
          </a:p>
          <a:p>
            <a:pPr algn="l">
              <a:lnSpc>
                <a:spcPts val="3519"/>
              </a:lnSpc>
            </a:pPr>
            <a:r>
              <a:rPr lang="en-US" sz="2514" b="true">
                <a:solidFill>
                  <a:srgbClr val="000000"/>
                </a:solidFill>
                <a:latin typeface="Dynapuff Bold"/>
                <a:ea typeface="Dynapuff Bold"/>
                <a:cs typeface="Dynapuff Bold"/>
                <a:sym typeface="Dynapuff Bold"/>
              </a:rPr>
              <a:t>Target Skills:</a:t>
            </a:r>
          </a:p>
          <a:p>
            <a:pPr algn="l" marL="542774" indent="-271387" lvl="1">
              <a:lnSpc>
                <a:spcPts val="3519"/>
              </a:lnSpc>
              <a:buFont typeface="Arial"/>
              <a:buChar char="•"/>
            </a:pPr>
            <a:r>
              <a:rPr lang="en-US" sz="2514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Letter Recognition</a:t>
            </a:r>
          </a:p>
          <a:p>
            <a:pPr algn="l" marL="542774" indent="-271387" lvl="1">
              <a:lnSpc>
                <a:spcPts val="3519"/>
              </a:lnSpc>
              <a:buFont typeface="Arial"/>
              <a:buChar char="•"/>
            </a:pPr>
            <a:r>
              <a:rPr lang="en-US" sz="2514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Handwriting Accuracy</a:t>
            </a:r>
          </a:p>
          <a:p>
            <a:pPr algn="l" marL="542774" indent="-271387" lvl="1">
              <a:lnSpc>
                <a:spcPts val="3519"/>
              </a:lnSpc>
              <a:buFont typeface="Arial"/>
              <a:buChar char="•"/>
            </a:pPr>
            <a:r>
              <a:rPr lang="en-US" sz="2514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Fine Motor Skills</a:t>
            </a:r>
          </a:p>
          <a:p>
            <a:pPr algn="l" marL="542774" indent="-271387" lvl="1">
              <a:lnSpc>
                <a:spcPts val="3519"/>
              </a:lnSpc>
              <a:buFont typeface="Arial"/>
              <a:buChar char="•"/>
            </a:pPr>
            <a:r>
              <a:rPr lang="en-US" sz="2514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Cognitive Processing </a:t>
            </a:r>
          </a:p>
          <a:p>
            <a:pPr algn="l" marL="542774" indent="-271387" lvl="1">
              <a:lnSpc>
                <a:spcPts val="3519"/>
              </a:lnSpc>
              <a:buFont typeface="Arial"/>
              <a:buChar char="•"/>
            </a:pPr>
            <a:r>
              <a:rPr lang="en-US" sz="2514">
                <a:solidFill>
                  <a:srgbClr val="000000"/>
                </a:solidFill>
                <a:latin typeface="Dynapuff"/>
                <a:ea typeface="Dynapuff"/>
                <a:cs typeface="Dynapuff"/>
                <a:sym typeface="Dynapuff"/>
              </a:rPr>
              <a:t>Confidence in Writing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8539" y="751406"/>
            <a:ext cx="15457635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METHODOLOGY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806933" y="1216715"/>
            <a:ext cx="12064162" cy="9070285"/>
            <a:chOff x="0" y="0"/>
            <a:chExt cx="16085549" cy="12093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85549" cy="12093714"/>
            </a:xfrm>
            <a:custGeom>
              <a:avLst/>
              <a:gdLst/>
              <a:ahLst/>
              <a:cxnLst/>
              <a:rect r="r" b="b" t="t" l="l"/>
              <a:pathLst>
                <a:path h="12093714" w="16085549">
                  <a:moveTo>
                    <a:pt x="0" y="0"/>
                  </a:moveTo>
                  <a:lnTo>
                    <a:pt x="16085549" y="0"/>
                  </a:lnTo>
                  <a:lnTo>
                    <a:pt x="16085549" y="12093714"/>
                  </a:lnTo>
                  <a:lnTo>
                    <a:pt x="0" y="12093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82" t="0" r="-4382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-78708">
              <a:off x="7901953" y="1674356"/>
              <a:ext cx="369339" cy="1938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136"/>
                </a:lnSpc>
              </a:pPr>
            </a:p>
            <a:p>
              <a:pPr algn="ctr">
                <a:lnSpc>
                  <a:spcPts val="10136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193221" y="1022208"/>
              <a:ext cx="7699106" cy="2102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96"/>
                </a:lnSpc>
              </a:pPr>
              <a:r>
                <a:rPr lang="en-US" sz="6662" b="true">
                  <a:solidFill>
                    <a:srgbClr val="2B5784"/>
                  </a:solidFill>
                  <a:latin typeface="Dynapuff Bold"/>
                  <a:ea typeface="Dynapuff Bold"/>
                  <a:cs typeface="Dynapuff Bold"/>
                  <a:sym typeface="Dynapuff Bold"/>
                </a:rPr>
                <a:t>How IT Works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17418" y="3377043"/>
              <a:ext cx="14850713" cy="8716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Use a diverse dataset with rotations, distortions, and viewpoint changes to improve generalization </a:t>
              </a:r>
            </a:p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Display a Sinhala character and let the child draw on a touchscreen interface.</a:t>
              </a:r>
            </a:p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Capture, normalize, and evaluate the drawing using CNN confidence scoring.</a:t>
              </a:r>
            </a:p>
            <a:p>
              <a:pPr algn="l" marL="894136" indent="-447068" lvl="1">
                <a:lnSpc>
                  <a:spcPts val="5798"/>
                </a:lnSpc>
                <a:buFont typeface="Arial"/>
                <a:buChar char="•"/>
              </a:pPr>
              <a:r>
                <a:rPr lang="en-US" sz="414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Adjust learning dynamically, reinforcing weak areas and guiding mastery</a:t>
              </a:r>
            </a:p>
            <a:p>
              <a:pPr algn="l">
                <a:lnSpc>
                  <a:spcPts val="5798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28882" y="1572694"/>
            <a:ext cx="6364672" cy="3977920"/>
          </a:xfrm>
          <a:custGeom>
            <a:avLst/>
            <a:gdLst/>
            <a:ahLst/>
            <a:cxnLst/>
            <a:rect r="r" b="b" t="t" l="l"/>
            <a:pathLst>
              <a:path h="3977920" w="6364672">
                <a:moveTo>
                  <a:pt x="0" y="0"/>
                </a:moveTo>
                <a:lnTo>
                  <a:pt x="6364672" y="0"/>
                </a:lnTo>
                <a:lnTo>
                  <a:pt x="6364672" y="3977920"/>
                </a:lnTo>
                <a:lnTo>
                  <a:pt x="0" y="3977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8539" y="1572694"/>
            <a:ext cx="5797293" cy="3623308"/>
          </a:xfrm>
          <a:custGeom>
            <a:avLst/>
            <a:gdLst/>
            <a:ahLst/>
            <a:cxnLst/>
            <a:rect r="r" b="b" t="t" l="l"/>
            <a:pathLst>
              <a:path h="3623308" w="5797293">
                <a:moveTo>
                  <a:pt x="0" y="0"/>
                </a:moveTo>
                <a:lnTo>
                  <a:pt x="5797293" y="0"/>
                </a:lnTo>
                <a:lnTo>
                  <a:pt x="5797293" y="3623308"/>
                </a:lnTo>
                <a:lnTo>
                  <a:pt x="0" y="3623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9050" y="5726210"/>
            <a:ext cx="3863050" cy="4055696"/>
          </a:xfrm>
          <a:custGeom>
            <a:avLst/>
            <a:gdLst/>
            <a:ahLst/>
            <a:cxnLst/>
            <a:rect r="r" b="b" t="t" l="l"/>
            <a:pathLst>
              <a:path h="4055696" w="3863050">
                <a:moveTo>
                  <a:pt x="0" y="0"/>
                </a:moveTo>
                <a:lnTo>
                  <a:pt x="3863050" y="0"/>
                </a:lnTo>
                <a:lnTo>
                  <a:pt x="3863050" y="4055695"/>
                </a:lnTo>
                <a:lnTo>
                  <a:pt x="0" y="4055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8539" y="751406"/>
            <a:ext cx="15457635" cy="82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3"/>
              </a:lnSpc>
            </a:pPr>
            <a:r>
              <a:rPr lang="en-US" sz="7167">
                <a:solidFill>
                  <a:srgbClr val="EDAE22"/>
                </a:solidFill>
                <a:latin typeface="Sniglet"/>
                <a:ea typeface="Sniglet"/>
                <a:cs typeface="Sniglet"/>
                <a:sym typeface="Sniglet"/>
              </a:rPr>
              <a:t>UI</a:t>
            </a:r>
          </a:p>
        </p:txBody>
      </p:sp>
      <p:sp>
        <p:nvSpPr>
          <p:cNvPr name="TextBox 6" id="6"/>
          <p:cNvSpPr txBox="true"/>
          <p:nvPr/>
        </p:nvSpPr>
        <p:spPr>
          <a:xfrm rot="-78708">
            <a:off x="8734188" y="2541529"/>
            <a:ext cx="277004" cy="138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6"/>
              </a:lnSpc>
            </a:pPr>
          </a:p>
          <a:p>
            <a:pPr algn="ctr">
              <a:lnSpc>
                <a:spcPts val="10136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598A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0977" y="1474005"/>
            <a:ext cx="12517717" cy="7338991"/>
            <a:chOff x="0" y="0"/>
            <a:chExt cx="16690289" cy="978532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14375"/>
              <a:ext cx="16690289" cy="309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49"/>
                </a:lnSpc>
                <a:spcBef>
                  <a:spcPct val="0"/>
                </a:spcBef>
              </a:pPr>
              <a:r>
                <a:rPr lang="en-US" b="true" sz="1881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THANK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172665"/>
              <a:ext cx="16690289" cy="5612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99"/>
                </a:lnSpc>
                <a:spcBef>
                  <a:spcPct val="0"/>
                </a:spcBef>
              </a:pPr>
              <a:r>
                <a:rPr lang="en-US" b="true" sz="33999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DAGhzJnd72o</dc:identifier>
  <dcterms:modified xsi:type="dcterms:W3CDTF">2011-08-01T06:04:30Z</dcterms:modified>
  <cp:revision>1</cp:revision>
  <dc:title>Down Syndrome Project </dc:title>
</cp:coreProperties>
</file>